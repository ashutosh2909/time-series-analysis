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Lexen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exend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24e91e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24e91e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f24e91ea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f24e91ea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f24e91ea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f24e91e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f24e91ea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f24e91ea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f24e91ea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f24e91ea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f24e91ea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f24e91ea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f24e91ea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f24e91ea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24e91ea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f24e91ea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f24e91ea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f24e91ea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f24e91ea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f24e91ea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4b1bf160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4b1bf160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4b1bf160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4b1bf160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4b1bf160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4b1bf160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4b1bf160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4b1bf160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f24e91ea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f24e91ea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Everything About Time Series Forecasting</a:t>
            </a:r>
            <a:endParaRPr sz="3200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Marco Peixeiro</a:t>
            </a:r>
            <a:endParaRPr sz="1800"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Understanding Time Series Forecasting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This chapter covers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Introducing time series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Understanding the three main components of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a time series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The steps necessary for a successful forecasting project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How forecasting time series is different from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other regression tasks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series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just data recorded over time.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daily temperatures, stock prices, or monthly sales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studying time series, we can understand patterns and make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forecasts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about the future.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book focuses on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series forecasting in Python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will start with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forecasts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(basic predictions), then learn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statistical models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like moving averages and autoregression.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Later, we will move to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advanced models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that handle trends, seasonality, and outside factors.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Finally, we will explore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deep learning methods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which are better for very large and complex time series.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1.1 Introducing Time Series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series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data collected over time, in order.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points are usually recorded at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regular intervals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(like every hour, every day, every quarter).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Examples: stock prices, electricity usage, temperature.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Johnson &amp; Johnson dataset (1960–1980 quarterly earnings) is a good example: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is recorded every quarter (equally spaced).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shows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trend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(values rising over time).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also shows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seasonality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(earnings go up and down in a repeating yearly pattern).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1.1.1 Components of a time series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series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broken down into three parts: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Trend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The long-term direction of the data (e.g., earnings steadily increasing over years).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Seasonality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Regular repeating patterns over fixed periods (e.g., sales rising every holiday season, then dropping after).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Residuals (Noise)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Random fluctuations that can’t be explained by trend or seasonality (like unexpected events).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Decomposition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process of splitting a time series into these parts so we can see them clearly.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short: Time series = Trend + Seasonality + Residuals. When forecasting, we expect the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trend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seasonality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continue, while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residuals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unpredictable.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800" y="2834549"/>
            <a:ext cx="2807225" cy="18078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12675" y="4509750"/>
            <a:ext cx="403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exend"/>
                <a:ea typeface="Lexend"/>
                <a:cs typeface="Lexend"/>
                <a:sym typeface="Lexend"/>
              </a:rPr>
              <a:t>Figure 1.1 Quarterly earnings of Johnson &amp; Johnson in USD from 1960 to 1980</a:t>
            </a: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Lexend"/>
                <a:ea typeface="Lexend"/>
                <a:cs typeface="Lexend"/>
                <a:sym typeface="Lexend"/>
              </a:rPr>
              <a:t>showing a positive trend and a cyclical behavior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901" y="3701600"/>
            <a:ext cx="2092175" cy="135347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6764075" y="3701600"/>
            <a:ext cx="22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exend"/>
                <a:ea typeface="Lexend"/>
                <a:cs typeface="Lexend"/>
                <a:sym typeface="Lexend"/>
              </a:rPr>
              <a:t>Focusing on the Observed plot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764075" y="39666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exend"/>
                <a:ea typeface="Lexend"/>
                <a:cs typeface="Lexend"/>
                <a:sym typeface="Lexend"/>
              </a:rPr>
              <a:t>Focusing on the trend component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764075" y="4305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exend"/>
                <a:ea typeface="Lexend"/>
                <a:cs typeface="Lexend"/>
                <a:sym typeface="Lexend"/>
              </a:rPr>
              <a:t>Focusing on the seasonal component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764075" y="46440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exend"/>
                <a:ea typeface="Lexend"/>
                <a:cs typeface="Lexend"/>
                <a:sym typeface="Lexend"/>
              </a:rPr>
              <a:t>Focusing on the residuals.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1.2 Bird’s-eye view of time series forecasting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572700"/>
            <a:ext cx="44487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Forecasting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means predicting the future using past data. Before building a model, there are several important steps: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Set a goal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Decide what you want to predict 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Define what to forecast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Pick the exact variable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Set the forecast horizon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How far ahead you need predictions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Gather data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Collect past records 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Build a model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Choose a method based on the data: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statistical models (like SARIMA) for trends/seasonality.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SARIMAX if external factors matter (like wind, humidity).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Deep learning if you have lots of data.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Evaluate model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Test the model using recent data and measure accuracy (e.g., MSE).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Deploy the model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Put it into use so it can automatically give forecasts (via API, app, or even Excel).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Monitor performance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Compare forecasts with real outcomes, watch for unexpected events 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Update with new data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Retrain the model with fresh data to keep forecasts accurate.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1.3 How time series forecasting is different from other regression tasks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regular regression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 order of data doesn’t matter. In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 series forecasting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order of data is crucial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Future values depend on past values, so you must keep the timeline intact.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only use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past and present data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predict the future. Using future data (like Wednesday’s temperature to predict Tuesday’s) would be cheating — this mistake is called </a:t>
            </a:r>
            <a:r>
              <a:rPr b="1" lang="en" sz="1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look-ahead bias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unlike normal regression, time series models must respect the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sequence of time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avoid using information that wouldn’t be available at prediction time.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A naive prediction of the future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This chapter covers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Defining a baseline model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Setting a baseline using the mean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Building a baseline using the mean of the previous window of time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Creating a baseline using the previous timestep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Implementing the naive seasonal forecast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Before building complex models, we start with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baseline model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A baseline is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prediction method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(like guessing the next value will be the same as the last one, or using averages).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It’s not meant to be perfect — it’s just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reference point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comparing advanced models against the baseline, we can see if they actually add value.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example, we’ll forecast Johnson &amp; Johnson’s quarterly earnings for 1980 using data from 1960–1979.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shows both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trend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(values rising over time) and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seasonality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(repeating yearly ups and downs).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We’ll build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different baseline models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Python to get started, and later compare more advanced techniques against them.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2.1 Defining a baseline model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baseline model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simplest possible way to make predictions.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doesn’t need training and is very cheap to implement.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baseline methods include: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method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Predict the average of past values (e.g., average EPS from 1960–1979 = $4.31, so forecast each quarter of 1980 as $4.31).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Last value method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Predict the next value will be the same as the most recent one (e.g., if EPS was $0.71 last quarter, forecast $0.71 for the next).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Seasonal repeat method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Repeat the same value from the same season/cycle in the past (e.g., Q1 1980 EPS = Q1 1979 EPS).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baselines are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meant to be perfect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They give us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reference point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compare against more advanced models.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test them, we make predictions for a period we didn’t use to build the baseline (like 1980 data) — this is called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out-of-sample forecasting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advanced models can’t beat the baseline, they’re not useful.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72700"/>
            <a:ext cx="4260299" cy="262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3. Going on a random walk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This chapter covers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Identifying a random walk process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Understanding the ACF function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Classifying differencing, stationarity, and white noise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Using the ACF plot and differencing to identify a random walk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Forecasting a random walk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3.1 The Random Walk Process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random walk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like taking steps where each move is unpredictable — sometimes up, sometimes down.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 each step, the new value depends on: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previous value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(where you were before),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constant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(which can push the walk steadily upward or downward — this is called </a:t>
            </a:r>
            <a:r>
              <a:rPr b="1" i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drift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random shock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(a number drawn from a normal distribution, meaning it’s centered around 0 but can vary).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So the formula is: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 sz="11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100">
                <a:latin typeface="Lexend"/>
                <a:ea typeface="Lexend"/>
                <a:cs typeface="Lexend"/>
                <a:sym typeface="Lexend"/>
              </a:rPr>
              <a:t>: value now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 sz="1100">
                <a:latin typeface="Lexend"/>
                <a:ea typeface="Lexend"/>
                <a:cs typeface="Lexend"/>
                <a:sym typeface="Lexend"/>
              </a:rPr>
              <a:t>t−1:</a:t>
            </a:r>
            <a:r>
              <a:rPr lang="en" sz="1100">
                <a:latin typeface="Lexend"/>
                <a:ea typeface="Lexend"/>
                <a:cs typeface="Lexend"/>
                <a:sym typeface="Lexend"/>
              </a:rPr>
              <a:t> value from the last step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C: constant drift (if not zero, the walk tends to move in one direction over time)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ϵ</a:t>
            </a:r>
            <a:r>
              <a:rPr baseline="-25000" lang="en" sz="11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100">
                <a:latin typeface="Lexend"/>
                <a:ea typeface="Lexend"/>
                <a:cs typeface="Lexend"/>
                <a:sym typeface="Lexend"/>
              </a:rPr>
              <a:t>: random noise (unpredictable ups and downs)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9296" y="2982775"/>
            <a:ext cx="1668025" cy="34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3. Going on a random walk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3.2 Identifying a random walk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A random walk is a series whose first difference is stationary and uncorrelated which means the ACF plot doesn’t have significant coefficients after lag 0.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This means that the process moves completely at random.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3.2.1 Concept of Stationarity 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A stationary time series is one whose statistical properties do not change over time.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In other words, it has a constant mean, variance, and autocorrelation, and these properties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are independent of time.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exend"/>
                <a:ea typeface="Lexend"/>
                <a:cs typeface="Lexend"/>
                <a:sym typeface="Lexend"/>
              </a:rPr>
              <a:t>Why Stationarity is important</a:t>
            </a:r>
            <a:endParaRPr b="1"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If a series is not stationary that means it would have time varying statistical properties. Thus can’t find a function to forecast future value as a function of past values, since the coefficient would change at each point in time, aking forecast unreliable.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In real life there is hardly any stationarity series. Hence we need apply mathematical manipulation to the data that stabilizes its mean and variance, thus making it stationary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Linear differencing (removes trend): y’</a:t>
            </a:r>
            <a:r>
              <a:rPr baseline="-25000" lang="en" sz="11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100">
                <a:latin typeface="Lexend"/>
                <a:ea typeface="Lexend"/>
                <a:cs typeface="Lexend"/>
                <a:sym typeface="Lexend"/>
              </a:rPr>
              <a:t> = y</a:t>
            </a:r>
            <a:r>
              <a:rPr baseline="-25000" lang="en" sz="11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100">
                <a:latin typeface="Lexend"/>
                <a:ea typeface="Lexend"/>
                <a:cs typeface="Lexend"/>
                <a:sym typeface="Lexend"/>
              </a:rPr>
              <a:t> - y</a:t>
            </a:r>
            <a:r>
              <a:rPr baseline="-25000" lang="en" sz="1100">
                <a:latin typeface="Lexend"/>
                <a:ea typeface="Lexend"/>
                <a:cs typeface="Lexend"/>
                <a:sym typeface="Lexend"/>
              </a:rPr>
              <a:t>t-1</a:t>
            </a:r>
            <a:endParaRPr baseline="-25000"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Seasonal differencing (removes seasonality)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Log transformation stabilize variance.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Lexend"/>
                <a:ea typeface="Lexend"/>
                <a:cs typeface="Lexend"/>
                <a:sym typeface="Lexend"/>
              </a:rPr>
              <a:t>Usually we don’t go beyond second order differencing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025" y="1698175"/>
            <a:ext cx="2317575" cy="33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3. Going on a random walk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Testing for stationarity - Augmented Dickey-Fuller Test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Null hypothesis: unit root present in a time series.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Alternative hypothesis: no unit root, hence series is stationary.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Results of ADF test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Test statistics: more negative mean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stronger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evidence to reject null hypothesis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P value &lt; 0.05, reject null hypothesis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= C + αY</a:t>
            </a:r>
            <a:r>
              <a:rPr baseline="-25000" lang="en" sz="1200">
                <a:latin typeface="Lexend"/>
                <a:ea typeface="Lexend"/>
                <a:cs typeface="Lexend"/>
                <a:sym typeface="Lexend"/>
              </a:rPr>
              <a:t>t-1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+ ∊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If -1 &lt; α &lt; 1, is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stationary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748" y="572700"/>
            <a:ext cx="4178551" cy="26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013" y="2889613"/>
            <a:ext cx="1685925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2849425" y="2889625"/>
            <a:ext cx="130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stationary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2849425" y="3349000"/>
            <a:ext cx="130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Non </a:t>
            </a:r>
            <a:r>
              <a:rPr lang="en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stationary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3. Going on a random walk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3.2.3 Autocorrelation Function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Autocorrelation measures linear relationship between lagged values of a time series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In ACF plot, the coefficient is the dependent &amp;  lag is the independent variable.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If series has trend, coefficients are high for short lags, and they will decrease linearly as the lag increases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4572000" y="572700"/>
            <a:ext cx="45720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 Forecasting a Random Walk</a:t>
            </a:r>
            <a:endParaRPr b="1"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Random walk basics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Each step is unpredictable. Future values depend only on chance.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Forecasting challenge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Since changes are random, no complex statistical model can beat simple guesses.</a:t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Naive methods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(baselines):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Last value method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Predict the next value will be the same as the most recent one.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Historical mean method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Predict the average of past values.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Forecast horizon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Best to forecast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 the next step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(short horizon).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forced to forecast further, accuracy drops quickly because randomness builds up.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Stationary process with autocorrelation means means past values influence future ones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 (Moving Average)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forecasts based on past random shocks.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 (Autoregressive)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forecasts based on past values.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ARMA (Autoregressive Moving Average)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combines both AR and MA.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Forecasting With Statistical Model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Goal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Build models that capture patterns in data (trend, seasonality, autocorrelation).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Process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hypothesis testing.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Study data properties.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Choose the best model.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Models we’ll learn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MA(q)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Moving Average (based on past shocks).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AR(p)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Autoregressive (based on past values).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ARMA(p,q)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Combination of AR + MA.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ARIMA(p,d,q)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For non-stationary series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SARIMA(p,d,q)(P,D,Q)m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Adds seasonality.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SARIMAX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Adds external variables.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VAR(p)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For multiple time series together.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Other models (not covered in detail)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Exponential smoothing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Weighted average of past values (recent values matter more).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BATS/TBATS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Handle complex seasonality.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are available in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statsmodels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library.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Capstone project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Apply all these models to real data.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Modeling a Moving Average Process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 stationary series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does show autocorrelation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we can use AR, MA, or ARMA models.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 to model</a:t>
            </a:r>
            <a:r>
              <a:rPr lang="en" sz="1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Gather data.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for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stationarity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not stationary → transform it (e.g., differencing).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Once stationary → plot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ACF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AutoNum type="arabicPeriod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ACF shows significant lags → not random walk → use MA model.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Defining a moving average process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A moving average process states that the current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value is linearly dependent on the current &amp; past error terms.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The error terms are assumed to be mutually independent and normally distributed, just like </a:t>
            </a:r>
            <a:r>
              <a:rPr i="1" lang="en" sz="1200">
                <a:latin typeface="Lexend"/>
                <a:ea typeface="Lexend"/>
                <a:cs typeface="Lexend"/>
                <a:sym typeface="Lexend"/>
              </a:rPr>
              <a:t>white noise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A moving average model is denoted as MA(q), where q is the order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μ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: mean of the series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ϵ</a:t>
            </a:r>
            <a:r>
              <a:rPr baseline="-25000" lang="en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present error term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ϵ</a:t>
            </a:r>
            <a:r>
              <a:rPr baseline="-25000" lang="en" sz="1200">
                <a:latin typeface="Lexend"/>
                <a:ea typeface="Lexend"/>
                <a:cs typeface="Lexend"/>
                <a:sym typeface="Lexend"/>
              </a:rPr>
              <a:t>t–q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past error terms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baseline="-25000" lang="en" sz="1200"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magnitude of the impact of past errors on the present value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The order q of MA model determines the number of past error terms that affect the present value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MA(2) can be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described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as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638" y="2641550"/>
            <a:ext cx="35718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163" y="4723650"/>
            <a:ext cx="2486025" cy="3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Modeling a Moving Average Process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4.1.1 Identifying the order of a moving average process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"/>
                <a:ea typeface="Lexend"/>
                <a:cs typeface="Lexend"/>
                <a:sym typeface="Lexend"/>
              </a:rPr>
              <a:t>Since after lag 2, the coefficient become 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insignificant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, hence this is MA(2)</a:t>
            </a:r>
            <a:r>
              <a:rPr lang="en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475" y="1231500"/>
            <a:ext cx="2260800" cy="382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3" y="572694"/>
            <a:ext cx="3477849" cy="20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25" y="2571750"/>
            <a:ext cx="3477825" cy="2085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Modeling a Moving Average Process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Lexend"/>
                <a:ea typeface="Lexend"/>
                <a:cs typeface="Lexend"/>
                <a:sym typeface="Lexend"/>
              </a:rPr>
              <a:t>Key Limitation</a:t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MA(q) models depend on past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error terms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These error terms aren’t directly observed → they must be estimated step by step.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Because of this, you can only forecast up to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 steps ahead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one shot.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Beyond q steps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model runs out of past error terms.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then just predicts the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→ same as a baseline forecast.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forecasts beyond q steps add no real value.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 → Rolling forecasts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Forecast a few steps at a time, then update the training set with new data.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ACF plot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a stationary series shows a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sinusoidal wave pattern, 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suggests an </a:t>
            </a:r>
            <a:r>
              <a:rPr b="1"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autoregressive process</a:t>
            </a:r>
            <a:r>
              <a:rPr lang="en" sz="1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117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4572000" y="572700"/>
            <a:ext cx="4260300" cy="45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